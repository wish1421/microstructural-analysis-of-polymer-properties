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8" r:id="rId4"/>
    <p:sldId id="259" r:id="rId5"/>
    <p:sldId id="261" r:id="rId6"/>
    <p:sldId id="262" r:id="rId7"/>
    <p:sldId id="264" r:id="rId8"/>
    <p:sldId id="268" r:id="rId9"/>
    <p:sldId id="265" r:id="rId10"/>
    <p:sldId id="269" r:id="rId11"/>
    <p:sldId id="270" r:id="rId12"/>
    <p:sldId id="26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D34B-4A6D-43EA-9392-8993DA586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1DC63-5FA7-4444-AC13-94B3AAA40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10250-08CB-485C-9ADF-C0CBAEBC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27948-15B8-4385-AC02-6EC4824B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9DD11-08D2-4D6B-B7B7-CCD28E6A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39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B458-4A34-4F37-92E7-1A1B582B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0D853-A155-499E-9B9A-18EECD01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965F9-ED7E-439B-A18C-1A8E9A53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A0AFD-027F-4621-8AFA-2B06F2C6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A787E-6B24-4F43-BC96-5F05E09F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3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2505-30B0-4793-BC24-40B6DAEB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D1B9B-F6D2-4FBB-8E53-AAB0011C4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7FBA2-387B-4FDC-902D-CD6B2A83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125D6-A125-4E07-84DD-DA1FF291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21E7-42CF-4F36-9C4E-71F6ABFA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567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63CF-E847-493D-B12D-3524D243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50859-B66E-4AE7-ADCC-150EAB605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716C4-C58C-4728-9DEC-7FFA2FEBF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CBE0A-5D5F-4FA1-9073-9FFF8D0A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C773A-409E-45EC-A881-1AA1FD33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65116-9B5B-460B-A43C-2534A25C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04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1F57-6255-4451-9253-08699702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56B87-C071-4425-B614-70C04B957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CCF1A-F0F5-482F-B222-2434A8D1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7FEDB-77DC-4258-BD90-0D5E74E4FE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9757A-305B-4DA4-9751-DB6436AFE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24C60D-935C-4DB7-8363-EF31D827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5985F-66E5-4311-90B6-71A1B070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6686-E414-4AF4-839F-3548C57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319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6BCA-48F6-49C9-9486-2A7E1474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9F277-E44F-4185-A8EF-B1077459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A68DC-7908-4A8E-9378-093A7DB6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A7836-E10E-4500-8F75-D3F06DD5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8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2CCC2-97C7-4707-B2DA-FDA1B3A4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2E6A6-379B-48D5-8BAC-3A91634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C281E-6088-43BF-81AC-651CFCF2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38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6B0A-5D64-41CA-95BA-24B9DD0E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8D20-379C-4F4C-9912-BE6DFBD2E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187C9-DE29-4EE5-BBF2-4A4DC62FE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B13CA-5808-48D5-A6CB-711D2D7F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8F224-4541-4563-9B4D-E9D2408D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E215C-AEBB-45BF-9F89-50F13144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3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866B-3D91-4D2E-92DB-BFB92543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03B92-AE31-4D96-BE95-B5586F7E5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AA6DD-BF30-4B13-8E93-D728EA0D6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F783B-B628-466A-8D09-688B911E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088F4-5865-4502-B5D1-82531F25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2D598-5BE0-4679-B7DB-ED2301E90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5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93BC4-2CA6-4497-B280-AD3CA5E3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19135-BCCC-429E-92F4-BDB730E0B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3F820-5BFE-4311-BE64-66DD51F6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56A42-9624-4CFE-834F-6135313A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76B89-0DB2-44B4-9E1C-8FD5F94D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62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7CEA1D-0989-457F-8448-5247C44B0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7FCE9-7496-43A1-9149-BD56636F4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23673-5379-41D4-B717-D6384061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98ED1-CCDB-4D88-A1D4-6712F464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4FA3-105C-4BEA-A193-010CDA47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23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3E322-867B-4814-AEBC-3073353E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3091E-57B9-4AF3-AB48-D011486C0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1392-7E62-4DF2-B513-F9A61CC9F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5FBF7-C9F7-422B-9B0B-A54F6CAD8D3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7F9E7-C68B-4240-B10E-008017552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0066-8FDA-4573-A9CC-4F504DE52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99BB6-BAA3-46D1-90B6-C8DC68F393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17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59B914-093B-4686-BD1A-8A5B2C278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385" y="153753"/>
            <a:ext cx="8980969" cy="65504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BB8402-DEDD-4FEB-B285-7B7A964C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7251"/>
            <a:ext cx="3185652" cy="232041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Problem</a:t>
            </a:r>
            <a:br>
              <a:rPr lang="en-US" sz="3600" dirty="0"/>
            </a:br>
            <a:r>
              <a:rPr lang="en-US" sz="3600" dirty="0"/>
              <a:t>Statement: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Compression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9591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CE0547-AC08-44EB-B87D-82F6CF59A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93"/>
            <a:ext cx="12192000" cy="676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9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4DC0-48E8-4D06-9A31-E2278667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09" y="85405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Getting Compression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32998-F95E-42E2-9FE8-EA861A65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9" y="703506"/>
            <a:ext cx="6096000" cy="4581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B6C597-8B2B-4CC3-B58E-DA7FB01C4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30969" cy="14731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650613-DA56-4AC1-B68F-28F5A2E9E659}"/>
              </a:ext>
            </a:extLst>
          </p:cNvPr>
          <p:cNvSpPr txBox="1"/>
          <p:nvPr/>
        </p:nvSpPr>
        <p:spPr>
          <a:xfrm>
            <a:off x="5948312" y="1396352"/>
            <a:ext cx="6243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hyperelastic</a:t>
            </a:r>
            <a:r>
              <a:rPr lang="en-US" dirty="0"/>
              <a:t> characterization in this study utilizes the classical </a:t>
            </a:r>
            <a:r>
              <a:rPr lang="en-US" b="1" dirty="0"/>
              <a:t>8% sulfur natural rubber dataset</a:t>
            </a:r>
            <a:r>
              <a:rPr lang="en-US" dirty="0"/>
              <a:t> from Treloar (1944)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89FB3D-B43D-4781-A1DA-7A467DC5EF87}"/>
              </a:ext>
            </a:extLst>
          </p:cNvPr>
          <p:cNvSpPr txBox="1"/>
          <p:nvPr/>
        </p:nvSpPr>
        <p:spPr>
          <a:xfrm>
            <a:off x="209746" y="5164468"/>
            <a:ext cx="61509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dataset provides </a:t>
            </a:r>
            <a:r>
              <a:rPr lang="en-US" b="1" dirty="0"/>
              <a:t>compression</a:t>
            </a:r>
            <a:r>
              <a:rPr lang="en-US" dirty="0"/>
              <a:t> derived from a validated </a:t>
            </a:r>
            <a:r>
              <a:rPr lang="en-US" b="1" dirty="0"/>
              <a:t>2-dimensional inflation method</a:t>
            </a:r>
            <a:r>
              <a:rPr lang="en-US" dirty="0"/>
              <a:t> over a </a:t>
            </a:r>
            <a:r>
              <a:rPr lang="en-US" b="1" dirty="0"/>
              <a:t>large strain range</a:t>
            </a:r>
            <a:r>
              <a:rPr lang="en-US" dirty="0"/>
              <a:t>. </a:t>
            </a:r>
          </a:p>
          <a:p>
            <a:r>
              <a:rPr lang="en-US" dirty="0"/>
              <a:t>The material behavior closely reflects that of </a:t>
            </a:r>
            <a:r>
              <a:rPr lang="en-US" b="1" dirty="0"/>
              <a:t>nearly incompressible natural rubber</a:t>
            </a:r>
            <a:r>
              <a:rPr lang="en-US" dirty="0"/>
              <a:t>, aligning with the assumptions used in the finite element model.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A9364-E7D1-460F-8E11-49CF3456A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725" y="2009430"/>
            <a:ext cx="4496427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8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3D99-E56F-41D6-9A2B-D577B070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0" y="365126"/>
            <a:ext cx="11840066" cy="323032"/>
          </a:xfrm>
        </p:spPr>
        <p:txBody>
          <a:bodyPr>
            <a:noAutofit/>
          </a:bodyPr>
          <a:lstStyle/>
          <a:p>
            <a:r>
              <a:rPr lang="en-US" sz="3200" dirty="0"/>
              <a:t>Simulating in ABAQUS for stress-strain graph and strain rate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9BCE6-0872-49AC-B6E8-11E44C16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70" y="1039086"/>
            <a:ext cx="7011378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7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E3E8-D0B3-476E-9AFA-A40FBC07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11" y="346152"/>
            <a:ext cx="11558048" cy="329818"/>
          </a:xfrm>
        </p:spPr>
        <p:txBody>
          <a:bodyPr>
            <a:normAutofit fontScale="90000"/>
          </a:bodyPr>
          <a:lstStyle/>
          <a:p>
            <a:r>
              <a:rPr lang="en-US" dirty="0"/>
              <a:t>Material Unstable on evaluating on Different Models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78EE8-F71D-4D38-837B-41F22940B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42" y="1043735"/>
            <a:ext cx="9821646" cy="54681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40975-5F54-4DB0-B7E0-1EFB2B25ED7B}"/>
              </a:ext>
            </a:extLst>
          </p:cNvPr>
          <p:cNvSpPr/>
          <p:nvPr/>
        </p:nvSpPr>
        <p:spPr>
          <a:xfrm>
            <a:off x="244311" y="2516708"/>
            <a:ext cx="1291472" cy="11312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C191C-8E3D-4A64-8ACF-2A0AE174FE3B}"/>
              </a:ext>
            </a:extLst>
          </p:cNvPr>
          <p:cNvSpPr txBox="1"/>
          <p:nvPr/>
        </p:nvSpPr>
        <p:spPr>
          <a:xfrm>
            <a:off x="244311" y="2620651"/>
            <a:ext cx="1291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Unstable for all these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97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14B00A-C489-4D8C-81F2-F0F2B032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290"/>
            <a:ext cx="12192000" cy="6122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A6C23E-E620-4DFE-960C-D6D42193FE52}"/>
              </a:ext>
            </a:extLst>
          </p:cNvPr>
          <p:cNvSpPr txBox="1"/>
          <p:nvPr/>
        </p:nvSpPr>
        <p:spPr>
          <a:xfrm>
            <a:off x="150829" y="169682"/>
            <a:ext cx="193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3mm/s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66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6903-5A61-45BF-95D5-7767BBAF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26" y="176589"/>
            <a:ext cx="10515600" cy="275898"/>
          </a:xfrm>
        </p:spPr>
        <p:txBody>
          <a:bodyPr>
            <a:normAutofit fontScale="90000"/>
          </a:bodyPr>
          <a:lstStyle/>
          <a:p>
            <a:r>
              <a:rPr lang="en-US" dirty="0"/>
              <a:t>Stress-strain curve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95CF4-EB7C-4C7B-ACA5-10B3D699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8" y="934295"/>
            <a:ext cx="7106642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0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3048-E8CB-4989-8684-99D2C805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70" y="144538"/>
            <a:ext cx="10515600" cy="574565"/>
          </a:xfrm>
        </p:spPr>
        <p:txBody>
          <a:bodyPr>
            <a:normAutofit fontScale="90000"/>
          </a:bodyPr>
          <a:lstStyle/>
          <a:p>
            <a:r>
              <a:rPr lang="en-US" dirty="0"/>
              <a:t>Strain Rate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A0589-7F19-491D-929C-ED2667BD4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998"/>
            <a:ext cx="12192000" cy="595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8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A6C23E-E620-4DFE-960C-D6D42193FE52}"/>
              </a:ext>
            </a:extLst>
          </p:cNvPr>
          <p:cNvSpPr txBox="1"/>
          <p:nvPr/>
        </p:nvSpPr>
        <p:spPr>
          <a:xfrm>
            <a:off x="150829" y="169682"/>
            <a:ext cx="193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30mm/s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74377-4DEC-4AE4-9EDB-7BEBE1B76366}"/>
              </a:ext>
            </a:extLst>
          </p:cNvPr>
          <p:cNvSpPr txBox="1"/>
          <p:nvPr/>
        </p:nvSpPr>
        <p:spPr>
          <a:xfrm>
            <a:off x="443060" y="772998"/>
            <a:ext cx="4713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Simulation didn’t ran; ABAQUS stopped working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57D2C-A461-42DE-B143-35177F26747D}"/>
              </a:ext>
            </a:extLst>
          </p:cNvPr>
          <p:cNvSpPr txBox="1"/>
          <p:nvPr/>
        </p:nvSpPr>
        <p:spPr>
          <a:xfrm>
            <a:off x="246668" y="1575847"/>
            <a:ext cx="193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150mm/s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E6C40-B22D-45ED-9384-DF8B94BE8A68}"/>
              </a:ext>
            </a:extLst>
          </p:cNvPr>
          <p:cNvSpPr txBox="1"/>
          <p:nvPr/>
        </p:nvSpPr>
        <p:spPr>
          <a:xfrm>
            <a:off x="246667" y="2797346"/>
            <a:ext cx="193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 900mm/s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D651A-C8AD-4876-A4C1-2C40D6282293}"/>
              </a:ext>
            </a:extLst>
          </p:cNvPr>
          <p:cNvSpPr txBox="1"/>
          <p:nvPr/>
        </p:nvSpPr>
        <p:spPr>
          <a:xfrm>
            <a:off x="443060" y="4820488"/>
            <a:ext cx="270863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Couldn’t run for any higher values of velocity except 3mm/s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99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1051-4966-4453-9716-1639D8A0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84" y="101174"/>
            <a:ext cx="10515600" cy="473861"/>
          </a:xfrm>
        </p:spPr>
        <p:txBody>
          <a:bodyPr>
            <a:normAutofit fontScale="90000"/>
          </a:bodyPr>
          <a:lstStyle/>
          <a:p>
            <a:r>
              <a:rPr lang="en-US" dirty="0"/>
              <a:t>Getting Data – useful papers(but didn’t had data)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12C1C-6862-4D66-8EA0-75B3E3B51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47"/>
          <a:stretch/>
        </p:blipFill>
        <p:spPr>
          <a:xfrm>
            <a:off x="0" y="892499"/>
            <a:ext cx="5920033" cy="2133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9640D0-6765-489C-9BDB-15C30A2DCFAD}"/>
              </a:ext>
            </a:extLst>
          </p:cNvPr>
          <p:cNvSpPr txBox="1"/>
          <p:nvPr/>
        </p:nvSpPr>
        <p:spPr>
          <a:xfrm>
            <a:off x="6381946" y="892499"/>
            <a:ext cx="5097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Theoretical justification for </a:t>
            </a:r>
            <a:r>
              <a:rPr lang="en-US" b="1" dirty="0"/>
              <a:t>including compression branch</a:t>
            </a:r>
            <a:r>
              <a:rPr lang="en-US" dirty="0"/>
              <a:t> to ensure stability &amp; accuracy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2F12B7-28BD-4C65-8EFC-DC8EF706EF26}"/>
              </a:ext>
            </a:extLst>
          </p:cNvPr>
          <p:cNvSpPr txBox="1"/>
          <p:nvPr/>
        </p:nvSpPr>
        <p:spPr>
          <a:xfrm>
            <a:off x="1065229" y="3555453"/>
            <a:ext cx="41572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only </a:t>
            </a:r>
            <a:r>
              <a:rPr lang="en-US" b="1" dirty="0"/>
              <a:t>illustrates</a:t>
            </a:r>
            <a:r>
              <a:rPr lang="en-US" dirty="0"/>
              <a:t> the model with </a:t>
            </a:r>
            <a:r>
              <a:rPr lang="en-US" b="1" dirty="0"/>
              <a:t>synthetic assumed data</a:t>
            </a:r>
            <a:r>
              <a:rPr lang="en-US" dirty="0"/>
              <a:t> (not tied to any physical rubber specimen). These examples </a:t>
            </a:r>
            <a:r>
              <a:rPr lang="en-US" b="1" dirty="0"/>
              <a:t>cannot</a:t>
            </a:r>
            <a:r>
              <a:rPr lang="en-US" dirty="0"/>
              <a:t> be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material identified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sample geometry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strain-rate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raw numerical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B9594B-3EE7-4C29-AC1D-730084263F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5" r="7085"/>
          <a:stretch/>
        </p:blipFill>
        <p:spPr>
          <a:xfrm>
            <a:off x="5222450" y="1856294"/>
            <a:ext cx="6855901" cy="506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81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1051-4966-4453-9716-1639D8A0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18" y="129455"/>
            <a:ext cx="10515600" cy="577555"/>
          </a:xfrm>
        </p:spPr>
        <p:txBody>
          <a:bodyPr>
            <a:normAutofit fontScale="90000"/>
          </a:bodyPr>
          <a:lstStyle/>
          <a:p>
            <a:r>
              <a:rPr lang="en-US" dirty="0"/>
              <a:t>Getting Data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CDE83-6425-4791-8D3F-1EF5E2797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010"/>
            <a:ext cx="7278116" cy="1467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4D42F2-A1CA-457B-A613-C825CDE7DA21}"/>
              </a:ext>
            </a:extLst>
          </p:cNvPr>
          <p:cNvSpPr txBox="1"/>
          <p:nvPr/>
        </p:nvSpPr>
        <p:spPr>
          <a:xfrm>
            <a:off x="246818" y="2413789"/>
            <a:ext cx="24115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Demonstrates how missing compression → wrong stress predictions and convergence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Explains tension–compression asymmetry as a </a:t>
            </a:r>
            <a:r>
              <a:rPr lang="en-US" b="1" dirty="0"/>
              <a:t>real material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Aligns perfectly with your FE case (rubber under </a:t>
            </a:r>
            <a:r>
              <a:rPr lang="en-US" b="1" dirty="0"/>
              <a:t>uniaxial compression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B729A-9317-47AA-A6EF-79C302D37251}"/>
              </a:ext>
            </a:extLst>
          </p:cNvPr>
          <p:cNvSpPr txBox="1"/>
          <p:nvPr/>
        </p:nvSpPr>
        <p:spPr>
          <a:xfrm>
            <a:off x="7278117" y="707010"/>
            <a:ext cx="44249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the </a:t>
            </a:r>
            <a:r>
              <a:rPr lang="en-US" b="1" dirty="0"/>
              <a:t>strongest physical justification</a:t>
            </a:r>
            <a:r>
              <a:rPr lang="en-US" dirty="0"/>
              <a:t> for needing compression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mathematically that tension-only fitting cannot determine energy function uniquely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AB7454-4BA8-447F-9398-AFF9F528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136" y="2745328"/>
            <a:ext cx="8849960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76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1051-4966-4453-9716-1639D8A0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18" y="129455"/>
            <a:ext cx="10515600" cy="577555"/>
          </a:xfrm>
        </p:spPr>
        <p:txBody>
          <a:bodyPr>
            <a:normAutofit fontScale="90000"/>
          </a:bodyPr>
          <a:lstStyle/>
          <a:p>
            <a:r>
              <a:rPr lang="en-US" dirty="0"/>
              <a:t>Getting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B55D6-99E1-4098-82A7-972637B3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8" y="707010"/>
            <a:ext cx="6287377" cy="1105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95F21B-5E1F-4943-9611-03B64C806764}"/>
              </a:ext>
            </a:extLst>
          </p:cNvPr>
          <p:cNvSpPr txBox="1"/>
          <p:nvPr/>
        </p:nvSpPr>
        <p:spPr>
          <a:xfrm>
            <a:off x="343292" y="1812064"/>
            <a:ext cx="54164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Directly uses </a:t>
            </a:r>
            <a:r>
              <a:rPr lang="en-IN" b="1" dirty="0"/>
              <a:t>Treloar’s experimental dataset</a:t>
            </a:r>
            <a:r>
              <a:rPr lang="en-IN" dirty="0"/>
              <a:t>, which you are using</a:t>
            </a:r>
            <a:br>
              <a:rPr lang="en-IN" dirty="0"/>
            </a:br>
            <a:r>
              <a:rPr lang="en-IN" dirty="0"/>
              <a:t>Demonstrates best practices for </a:t>
            </a:r>
            <a:r>
              <a:rPr lang="en-IN" b="1" dirty="0"/>
              <a:t>fitting </a:t>
            </a:r>
            <a:r>
              <a:rPr lang="en-IN" b="1" dirty="0" err="1"/>
              <a:t>hyperelastic</a:t>
            </a:r>
            <a:r>
              <a:rPr lang="en-IN" b="1" dirty="0"/>
              <a:t> models</a:t>
            </a:r>
            <a:br>
              <a:rPr lang="en-IN" dirty="0"/>
            </a:br>
            <a:r>
              <a:rPr lang="en-IN" dirty="0"/>
              <a:t>Shows real risk of </a:t>
            </a:r>
            <a:r>
              <a:rPr lang="en-IN" b="1" dirty="0"/>
              <a:t>parameter non-uniqueness</a:t>
            </a:r>
            <a:br>
              <a:rPr lang="en-IN" dirty="0"/>
            </a:br>
            <a:r>
              <a:rPr lang="en-IN" dirty="0"/>
              <a:t>Confirms that </a:t>
            </a:r>
            <a:r>
              <a:rPr lang="en-IN" b="1" dirty="0"/>
              <a:t>Ogden N=2 or N=3</a:t>
            </a:r>
            <a:r>
              <a:rPr lang="en-IN" dirty="0"/>
              <a:t> is a strong choice for Treloar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E9A843-9D00-4B61-8806-E6B12E4BA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200" y="560209"/>
            <a:ext cx="4315427" cy="4191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DA4E7F-55C5-484B-BD58-65159A486598}"/>
              </a:ext>
            </a:extLst>
          </p:cNvPr>
          <p:cNvSpPr txBox="1"/>
          <p:nvPr/>
        </p:nvSpPr>
        <p:spPr>
          <a:xfrm>
            <a:off x="3223967" y="4015686"/>
            <a:ext cx="238498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Reason for choosing Ogden model in ABAQUS Simulation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831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7566-BCAB-4932-9959-972CBA47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07" y="88557"/>
            <a:ext cx="10515600" cy="257044"/>
          </a:xfrm>
        </p:spPr>
        <p:txBody>
          <a:bodyPr>
            <a:noAutofit/>
          </a:bodyPr>
          <a:lstStyle/>
          <a:p>
            <a:r>
              <a:rPr lang="en-US" sz="2800" dirty="0"/>
              <a:t>Getting temp-dependent data (couldn’t find for compression)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78A03-9878-4699-A8AF-A1B66D9A73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36" b="31483"/>
          <a:stretch/>
        </p:blipFill>
        <p:spPr>
          <a:xfrm>
            <a:off x="195206" y="546754"/>
            <a:ext cx="5900794" cy="952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2E57DD-42AC-4CDC-BA76-60078E3C92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839"/>
          <a:stretch/>
        </p:blipFill>
        <p:spPr>
          <a:xfrm>
            <a:off x="6028042" y="482349"/>
            <a:ext cx="4990708" cy="6287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D05801-FAD2-408D-9EC0-F1F3ACC17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64" y="1691252"/>
            <a:ext cx="5459250" cy="507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2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310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Problem Statement:   Compression</vt:lpstr>
      <vt:lpstr>PowerPoint Presentation</vt:lpstr>
      <vt:lpstr>Getting Compression Data</vt:lpstr>
      <vt:lpstr>Simulating in ABAQUS for stress-strain graph and strain rate</vt:lpstr>
      <vt:lpstr>Material Unstable on evaluating on Different Models</vt:lpstr>
      <vt:lpstr>PowerPoint Presentation</vt:lpstr>
      <vt:lpstr>Stress-strain curve</vt:lpstr>
      <vt:lpstr>Strain Rate</vt:lpstr>
      <vt:lpstr>PowerPoint Presentation</vt:lpstr>
      <vt:lpstr>Getting Data – useful papers(but didn’t had data)</vt:lpstr>
      <vt:lpstr>Getting Data</vt:lpstr>
      <vt:lpstr>Getting Data</vt:lpstr>
      <vt:lpstr>Getting temp-dependent data (couldn’t find for compression)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Statement:   Compression</dc:title>
  <dc:creator>Vishakha Goyal</dc:creator>
  <cp:lastModifiedBy>Vishakha Goyal</cp:lastModifiedBy>
  <cp:revision>5</cp:revision>
  <dcterms:created xsi:type="dcterms:W3CDTF">2025-10-28T08:34:14Z</dcterms:created>
  <dcterms:modified xsi:type="dcterms:W3CDTF">2025-10-29T07:49:22Z</dcterms:modified>
</cp:coreProperties>
</file>